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90" r:id="rId2"/>
    <p:sldId id="291" r:id="rId3"/>
    <p:sldId id="292" r:id="rId4"/>
    <p:sldId id="293" r:id="rId5"/>
    <p:sldId id="294" r:id="rId6"/>
    <p:sldId id="296" r:id="rId7"/>
    <p:sldId id="297" r:id="rId8"/>
    <p:sldId id="299" r:id="rId9"/>
    <p:sldId id="303" r:id="rId10"/>
    <p:sldId id="304" r:id="rId11"/>
    <p:sldId id="305" r:id="rId12"/>
    <p:sldId id="306" r:id="rId13"/>
    <p:sldId id="308" r:id="rId14"/>
    <p:sldId id="309"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66977100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a:t>Tanu </a:t>
                      </a:r>
                      <a:r>
                        <a:rPr lang="en-IN" dirty="0"/>
                        <a:t>Mishra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t.mishra1103@gmail.com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9009988133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97695" y="1325502"/>
            <a:ext cx="10280254" cy="461665"/>
          </a:xfrm>
          <a:prstGeom prst="rect">
            <a:avLst/>
          </a:prstGeom>
          <a:noFill/>
        </p:spPr>
        <p:txBody>
          <a:bodyPr wrap="square" rtlCol="0">
            <a:spAutoFit/>
          </a:bodyPr>
          <a:lstStyle/>
          <a:p>
            <a:r>
              <a:rPr lang="en-US" sz="2400" b="1" dirty="0"/>
              <a:t>Domain of  Project – Home Appliances</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197695" y="637542"/>
            <a:ext cx="9581177" cy="461665"/>
          </a:xfrm>
          <a:prstGeom prst="rect">
            <a:avLst/>
          </a:prstGeom>
          <a:noFill/>
        </p:spPr>
        <p:txBody>
          <a:bodyPr wrap="square" rtlCol="0">
            <a:spAutoFit/>
          </a:bodyPr>
          <a:lstStyle/>
          <a:p>
            <a:r>
              <a:rPr lang="en-US" sz="2400" b="1" dirty="0"/>
              <a:t>Project Tile – Smart Home Energy Advisor Agent</a:t>
            </a:r>
            <a:endParaRPr lang="en-IN" sz="2400" b="1" dirty="0"/>
          </a:p>
        </p:txBody>
      </p:sp>
      <p:pic>
        <p:nvPicPr>
          <p:cNvPr id="3" name="Picture 2">
            <a:extLst>
              <a:ext uri="{FF2B5EF4-FFF2-40B4-BE49-F238E27FC236}">
                <a16:creationId xmlns:a16="http://schemas.microsoft.com/office/drawing/2014/main" id="{C4C40F7B-EBFB-A115-AFBA-F14F118B2658}"/>
              </a:ext>
            </a:extLst>
          </p:cNvPr>
          <p:cNvPicPr>
            <a:picLocks noChangeAspect="1"/>
          </p:cNvPicPr>
          <p:nvPr/>
        </p:nvPicPr>
        <p:blipFill>
          <a:blip r:embed="rId3"/>
          <a:stretch>
            <a:fillRect/>
          </a:stretch>
        </p:blipFill>
        <p:spPr>
          <a:xfrm>
            <a:off x="4047066" y="3683879"/>
            <a:ext cx="982134" cy="1035853"/>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r>
              <a:rPr lang="en-US" sz="1600" dirty="0"/>
              <a:t>Electrical Engineering: </a:t>
            </a:r>
          </a:p>
          <a:p>
            <a:r>
              <a:rPr lang="en-US" sz="1600" dirty="0"/>
              <a:t>Problem Statement No.16 – Smart Home Energy Advisor Agent</a:t>
            </a:r>
          </a:p>
          <a:p>
            <a:r>
              <a:rPr lang="en-US" sz="1600" dirty="0"/>
              <a:t>The Challenge</a:t>
            </a:r>
          </a:p>
          <a:p>
            <a:r>
              <a:rPr lang="en-US" sz="1600" dirty="0"/>
              <a:t>Rising electricity demand and energy costs make it difficult for households to understand how their daily habits impact power consumption. Most users only receive monthly bills, which provide limited insight into appliance-level energy usage. As a result, people often waste electricity unknowingly, highlighting the need for an AI-powered system that analyzes usage patterns and provides actionable energy-saving recommendations.</a:t>
            </a:r>
          </a:p>
          <a:p>
            <a:r>
              <a:rPr lang="en-US" sz="1600" dirty="0"/>
              <a:t>The Objective</a:t>
            </a:r>
          </a:p>
          <a:p>
            <a:r>
              <a:rPr lang="en-US" sz="1600" dirty="0"/>
              <a:t>Build an AI-powered Smart Home Energy Advisor Agent that analyzes household electricity consumption data and provides intelligent recommendations to optimize energy usage.</a:t>
            </a:r>
          </a:p>
          <a:p>
            <a:r>
              <a:rPr lang="en-US" sz="1600" dirty="0"/>
              <a:t>Energy Consumption Analysis – Analyze household electricity usage patterns from smart meters or appliance usage logs.</a:t>
            </a:r>
          </a:p>
          <a:p>
            <a:r>
              <a:rPr lang="en-US" sz="1600" dirty="0"/>
              <a:t>Personalized Energy Recommendations – Suggest energy-saving actions based on the user's consumption behavior and daily routines.</a:t>
            </a:r>
          </a:p>
          <a:p>
            <a:r>
              <a:rPr lang="en-US" sz="1600" dirty="0"/>
              <a:t>Appliance Usage Insights – Identify appliances that consume the most electricity and recommend optimal usage strategies.</a:t>
            </a:r>
          </a:p>
          <a:p>
            <a:r>
              <a:rPr lang="en-US" sz="1600" dirty="0"/>
              <a:t>Electricity Bill Estimation – Predict monthly electricity bills based on current usage patterns and tariff structures.</a:t>
            </a:r>
          </a:p>
          <a:p>
            <a:r>
              <a:rPr lang="en-US" sz="1600" dirty="0"/>
              <a:t>Energy Efficiency Suggestions – Recommend simple practices such as reducing peak-hour usage, scheduling heavy appliances, or upgrading to energy-efficient devices.</a:t>
            </a:r>
          </a:p>
          <a:p>
            <a:r>
              <a:rPr lang="en-US" sz="1600" dirty="0"/>
              <a:t>Tech Stack (Mandatory)</a:t>
            </a:r>
          </a:p>
          <a:p>
            <a:r>
              <a:rPr lang="en-US" sz="1600" dirty="0"/>
              <a:t>IBM </a:t>
            </a:r>
            <a:r>
              <a:rPr lang="en-US" sz="1600" dirty="0" err="1"/>
              <a:t>Langflow</a:t>
            </a:r>
            <a:r>
              <a:rPr lang="en-US" sz="1600" dirty="0"/>
              <a:t> / IBM Orchestrate + IBM Models</a:t>
            </a:r>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293209"/>
          </a:xfrm>
          <a:prstGeom prst="rect">
            <a:avLst/>
          </a:prstGeom>
          <a:noFill/>
        </p:spPr>
        <p:txBody>
          <a:bodyPr wrap="square" rtlCol="0">
            <a:spAutoFit/>
          </a:bodyPr>
          <a:lstStyle/>
          <a:p>
            <a:pPr fontAlgn="base"/>
            <a:r>
              <a:rPr lang="en-US" sz="1600" dirty="0"/>
              <a:t>The Smart Home Energy Advisor Agent is an edge-to-cloud multi-agent decision support system designed to turn raw electricity consumption logs into practical, cost-saving household habits. Built on the mandatory IBM tech stack, the architecture uses IBM </a:t>
            </a:r>
            <a:r>
              <a:rPr lang="en-US" sz="1600" dirty="0" err="1"/>
              <a:t>Langflow</a:t>
            </a:r>
            <a:r>
              <a:rPr lang="en-US" sz="1600" dirty="0"/>
              <a:t> or IBM </a:t>
            </a:r>
            <a:r>
              <a:rPr lang="en-US" sz="1600" dirty="0" err="1"/>
              <a:t>watsonx</a:t>
            </a:r>
            <a:r>
              <a:rPr lang="en-US" sz="1600" dirty="0"/>
              <a:t> Orchestrate paired with IBM Granite models to coordinate specialized analytical agents.</a:t>
            </a:r>
          </a:p>
          <a:p>
            <a:pPr fontAlgn="base"/>
            <a:r>
              <a:rPr lang="en-US" sz="1600" dirty="0"/>
              <a:t>The pipeline begins with a Consumption &amp; Disaggregation Agent that ingests smart meter or smart plug telemetry, isolates phantom standby loads, and applies Non-Intrusive Load Monitoring (NILM) signatures to separate heavy continuous draws like air conditioning from deferrable appliances like washing machines. In parallel, a Bill Estimation &amp; Tariff Agent evaluates real-time energy use against local Time-of-Use (</a:t>
            </a:r>
            <a:r>
              <a:rPr lang="en-US" sz="1600" dirty="0" err="1"/>
              <a:t>ToU</a:t>
            </a:r>
            <a:r>
              <a:rPr lang="en-US" sz="1600" dirty="0"/>
              <a:t>) utility pricing and tiered slabs to project end-of-month costs. A dedicated Advisory &amp; Peak-Shifting Agent then correlates these runtimes with peak tariff windows to generate prioritized, quantified recommendations—such as shifting high-load cycles to off-peak hours, nudging thermostat setpoints, and calculating return-on-investment for energy-efficient hardware upgrades. Finally, an interactive dashboard provides homeowners with clear energy gauges, bill forecasts, and automated smart-plug schedules to lower expenses and reduce peak grid strain.</a:t>
            </a:r>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946297"/>
            <a:ext cx="10515600" cy="6001643"/>
          </a:xfrm>
          <a:prstGeom prst="rect">
            <a:avLst/>
          </a:prstGeom>
          <a:noFill/>
        </p:spPr>
        <p:txBody>
          <a:bodyPr wrap="square" rtlCol="0">
            <a:spAutoFit/>
          </a:bodyPr>
          <a:lstStyle/>
          <a:p>
            <a:r>
              <a:rPr lang="en-IN" sz="1600" dirty="0"/>
              <a:t>Core AI &amp; Orchestration Layer (Mandatory Stack)</a:t>
            </a:r>
          </a:p>
          <a:p>
            <a:r>
              <a:rPr lang="en-IN" sz="1600" dirty="0"/>
              <a:t> * Agentic Orchestration: IBM </a:t>
            </a:r>
            <a:r>
              <a:rPr lang="en-IN" sz="1600" dirty="0" err="1"/>
              <a:t>Langflow</a:t>
            </a:r>
            <a:r>
              <a:rPr lang="en-IN" sz="1600" dirty="0"/>
              <a:t> for visually assembling the agent graph, parameter prompts, and tool nodes; IBM </a:t>
            </a:r>
            <a:r>
              <a:rPr lang="en-IN" sz="1600" dirty="0" err="1"/>
              <a:t>watsonx</a:t>
            </a:r>
            <a:r>
              <a:rPr lang="en-IN" sz="1600" dirty="0"/>
              <a:t> Orchestrate for enterprise agent management, skills routing, and automated triggering.</a:t>
            </a:r>
          </a:p>
          <a:p>
            <a:r>
              <a:rPr lang="en-IN" sz="1600" dirty="0"/>
              <a:t> * Foundation Models: IBM Granite Models (such as </a:t>
            </a:r>
            <a:r>
              <a:rPr lang="en-IN" sz="1600" dirty="0" err="1"/>
              <a:t>ibm</a:t>
            </a:r>
            <a:r>
              <a:rPr lang="en-IN" sz="1600" dirty="0"/>
              <a:t>/granite-3-8b-instruct or </a:t>
            </a:r>
            <a:r>
              <a:rPr lang="en-IN" sz="1600" dirty="0" err="1"/>
              <a:t>ibm</a:t>
            </a:r>
            <a:r>
              <a:rPr lang="en-IN" sz="1600" dirty="0"/>
              <a:t>/granite-13b-instruct on watsonx.ai) for structured reasoning, appliance data parsing, and cost calculations.</a:t>
            </a:r>
          </a:p>
          <a:p>
            <a:r>
              <a:rPr lang="en-IN" sz="1600" dirty="0"/>
              <a:t> * Knowledge Base &amp; RAG: IBM </a:t>
            </a:r>
            <a:r>
              <a:rPr lang="en-IN" sz="1600" dirty="0" err="1"/>
              <a:t>watsonx</a:t>
            </a:r>
            <a:r>
              <a:rPr lang="en-IN" sz="1600" dirty="0"/>
              <a:t> Discovery or Milvus / </a:t>
            </a:r>
            <a:r>
              <a:rPr lang="en-IN" sz="1600" dirty="0" err="1"/>
              <a:t>ChromaDB</a:t>
            </a:r>
            <a:r>
              <a:rPr lang="en-IN" sz="1600" dirty="0"/>
              <a:t> vector stores to index local utility tariff books, Time-of-Use (</a:t>
            </a:r>
            <a:r>
              <a:rPr lang="en-IN" sz="1600" dirty="0" err="1"/>
              <a:t>ToU</a:t>
            </a:r>
            <a:r>
              <a:rPr lang="en-IN" sz="1600" dirty="0"/>
              <a:t>) slabs, and energy-efficiency standards (such as BEE/Energy Star).</a:t>
            </a:r>
          </a:p>
          <a:p>
            <a:r>
              <a:rPr lang="en-IN" sz="1600" dirty="0"/>
              <a:t>Data Ingestion &amp; Disaggregation Engine</a:t>
            </a:r>
          </a:p>
          <a:p>
            <a:r>
              <a:rPr lang="en-IN" sz="1600" dirty="0"/>
              <a:t> * Data Sources &amp; Protocols: Ingestion from smart meter APIs (Green Button data format), IoT smart plugs (Tuya/Shelly/</a:t>
            </a:r>
            <a:r>
              <a:rPr lang="en-IN" sz="1600" dirty="0" err="1"/>
              <a:t>Tasmota</a:t>
            </a:r>
            <a:r>
              <a:rPr lang="en-IN" sz="1600" dirty="0"/>
              <a:t> via MQTT/REST), or CT clamp monitors.</a:t>
            </a:r>
          </a:p>
          <a:p>
            <a:r>
              <a:rPr lang="en-IN" sz="1600" dirty="0"/>
              <a:t> * Disaggregation Analytics: Non-Intrusive Load Monitoring (NILM) Python toolkits (such as NILMTK) to separate total household active power into individual appliance signatures.</a:t>
            </a:r>
          </a:p>
          <a:p>
            <a:r>
              <a:rPr lang="en-IN" sz="1600" dirty="0"/>
              <a:t> * Data Processing: Python (pandas, </a:t>
            </a:r>
            <a:r>
              <a:rPr lang="en-IN" sz="1600" dirty="0" err="1"/>
              <a:t>numpy</a:t>
            </a:r>
            <a:r>
              <a:rPr lang="en-IN" sz="1600" dirty="0"/>
              <a:t>) for time-series aggregation, peak-hour energy binning, and power factor calculations.</a:t>
            </a:r>
          </a:p>
          <a:p>
            <a:r>
              <a:rPr lang="en-IN" sz="1600" dirty="0"/>
              <a:t>Backend &amp; Integration Services</a:t>
            </a:r>
          </a:p>
          <a:p>
            <a:r>
              <a:rPr lang="en-IN" sz="1600" dirty="0"/>
              <a:t> * Runtime &amp; APIs: Python (</a:t>
            </a:r>
            <a:r>
              <a:rPr lang="en-IN" sz="1600" dirty="0" err="1"/>
              <a:t>FastAPI</a:t>
            </a:r>
            <a:r>
              <a:rPr lang="en-IN" sz="1600" dirty="0"/>
              <a:t> or Flask) to expose endpoints between the </a:t>
            </a:r>
            <a:r>
              <a:rPr lang="en-IN" sz="1600" dirty="0" err="1"/>
              <a:t>Langflow</a:t>
            </a:r>
            <a:r>
              <a:rPr lang="en-IN" sz="1600" dirty="0"/>
              <a:t> processing graph, IoT data collectors, and user interfaces.</a:t>
            </a:r>
          </a:p>
          <a:p>
            <a:r>
              <a:rPr lang="en-IN" sz="1600" dirty="0"/>
              <a:t> * Database &amp; Storage: Time-series database (e.g., </a:t>
            </a:r>
            <a:r>
              <a:rPr lang="en-IN" sz="1600" dirty="0" err="1"/>
              <a:t>InfluxDB</a:t>
            </a:r>
            <a:r>
              <a:rPr lang="en-IN" sz="1600" dirty="0"/>
              <a:t> or </a:t>
            </a:r>
            <a:r>
              <a:rPr lang="en-IN" sz="1600" dirty="0" err="1"/>
              <a:t>TimescaleDB</a:t>
            </a:r>
            <a:r>
              <a:rPr lang="en-IN" sz="1600" dirty="0"/>
              <a:t>) for historical sensor telemetry, paired with PostgreSQL or MongoDB for user preferences and tariff configurations.</a:t>
            </a:r>
          </a:p>
          <a:p>
            <a:r>
              <a:rPr lang="en-IN" sz="1600" dirty="0"/>
              <a:t>Frontend &amp; Action Dashboard</a:t>
            </a:r>
          </a:p>
          <a:p>
            <a:r>
              <a:rPr lang="en-IN" sz="1600" dirty="0"/>
              <a:t> * UI Framework: </a:t>
            </a:r>
            <a:r>
              <a:rPr lang="en-IN" sz="1600" dirty="0" err="1"/>
              <a:t>Streamlit</a:t>
            </a:r>
            <a:r>
              <a:rPr lang="en-IN" sz="1600" dirty="0"/>
              <a:t>, React.js with Tailwind CSS, or the IBM Carbon Design System for a responsive, accessible interface.</a:t>
            </a:r>
          </a:p>
          <a:p>
            <a:r>
              <a:rPr lang="en-IN" sz="1600" dirty="0"/>
              <a:t> * Data Visualization: </a:t>
            </a:r>
            <a:r>
              <a:rPr lang="en-IN" sz="1600" dirty="0" err="1"/>
              <a:t>Plotly</a:t>
            </a:r>
            <a:r>
              <a:rPr lang="en-IN" sz="1600" dirty="0"/>
              <a:t> or Chart.js for real-time load curves, peak vs. off-peak split graphs, and projected monthly cost gauges.</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BC1F40D6-143F-F2F3-FB81-F9A83E3F9225}"/>
              </a:ext>
            </a:extLst>
          </p:cNvPr>
          <p:cNvPicPr>
            <a:picLocks noChangeAspect="1"/>
          </p:cNvPicPr>
          <p:nvPr/>
        </p:nvPicPr>
        <p:blipFill>
          <a:blip r:embed="rId3"/>
          <a:stretch>
            <a:fillRect/>
          </a:stretch>
        </p:blipFill>
        <p:spPr>
          <a:xfrm>
            <a:off x="1176867" y="883436"/>
            <a:ext cx="10026175" cy="595930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821552F-DF73-EAFF-5EC3-F9DA9DF54B47}"/>
              </a:ext>
            </a:extLst>
          </p:cNvPr>
          <p:cNvPicPr>
            <a:picLocks noChangeAspect="1"/>
          </p:cNvPicPr>
          <p:nvPr/>
        </p:nvPicPr>
        <p:blipFill>
          <a:blip r:embed="rId2"/>
          <a:stretch>
            <a:fillRect/>
          </a:stretch>
        </p:blipFill>
        <p:spPr>
          <a:xfrm>
            <a:off x="440507" y="217117"/>
            <a:ext cx="11476963" cy="6556215"/>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376258" y="1167493"/>
            <a:ext cx="8056541" cy="4832092"/>
          </a:xfrm>
          <a:prstGeom prst="rect">
            <a:avLst/>
          </a:prstGeom>
          <a:noFill/>
        </p:spPr>
        <p:txBody>
          <a:bodyPr wrap="square" rtlCol="0">
            <a:spAutoFit/>
          </a:bodyPr>
          <a:lstStyle/>
          <a:p>
            <a:r>
              <a:rPr lang="en-US" dirty="0"/>
              <a:t>In this project, Agentic AI transforms the Smart Home Energy Advisor from a passive reporting dashboard into an autonomous, goal-driven energy optimization system. Instead of requiring a user to manually inspect kilowatt-hour figures and calculate rate tariffs, the agent continuously runs a Perceive \</a:t>
            </a:r>
            <a:r>
              <a:rPr lang="en-US" dirty="0" err="1"/>
              <a:t>rightarrow</a:t>
            </a:r>
            <a:r>
              <a:rPr lang="en-US" dirty="0"/>
              <a:t> Reason \</a:t>
            </a:r>
            <a:r>
              <a:rPr lang="en-US" dirty="0" err="1"/>
              <a:t>rightarrow</a:t>
            </a:r>
            <a:r>
              <a:rPr lang="en-US" dirty="0"/>
              <a:t> Act loop to actively drive down energy costs and peak grid strain.</a:t>
            </a:r>
          </a:p>
          <a:p>
            <a:r>
              <a:rPr lang="en-US" dirty="0"/>
              <a:t>1. Autonomous Perception &amp; Closed-Loop Ingestion</a:t>
            </a:r>
          </a:p>
          <a:p>
            <a:r>
              <a:rPr lang="en-US" dirty="0"/>
              <a:t> * Rather than waiting for human prompts, the system autonomously listens to live smart meter feeds, smart plug telemetry, and dynamic utility rate updates.</a:t>
            </a:r>
          </a:p>
          <a:p>
            <a:r>
              <a:rPr lang="en-US" dirty="0"/>
              <a:t> * It detects deviations in real time—such as an unexplained jump in continuous standby wattage (vampire load) or an energy-intensive appliance starting up during a peak tariff window.</a:t>
            </a:r>
          </a:p>
          <a:p>
            <a:r>
              <a:rPr lang="en-US" dirty="0"/>
              <a:t>2. Multi-Agent Task Decomposition &amp; Orchestration</a:t>
            </a:r>
          </a:p>
          <a:p>
            <a:r>
              <a:rPr lang="en-US" dirty="0"/>
              <a:t>Instead of relying on a single, brittle LLM prompt to handle parsing, physics, tariff arithmetic, and behavioral advice simultaneously, Agentic AI divides the system into specialized workers managed by IBM </a:t>
            </a:r>
            <a:r>
              <a:rPr lang="en-US" dirty="0" err="1"/>
              <a:t>Langflow</a:t>
            </a:r>
            <a:r>
              <a:rPr lang="en-US" dirty="0"/>
              <a:t> or </a:t>
            </a:r>
            <a:r>
              <a:rPr lang="en-US" dirty="0" err="1"/>
              <a:t>watsonx</a:t>
            </a:r>
            <a:r>
              <a:rPr lang="en-US" dirty="0"/>
              <a:t> Orchestrate:</a:t>
            </a:r>
          </a:p>
          <a:p>
            <a:r>
              <a:rPr lang="en-US" dirty="0"/>
              <a:t> * Data Disaggregation Agent: Isolates individual appliance signatures from total power draws using Non-Intrusive Load Monitoring (NILM) patterns.</a:t>
            </a:r>
          </a:p>
          <a:p>
            <a:r>
              <a:rPr lang="en-US" dirty="0"/>
              <a:t> * Tariff &amp; Cost Estimation Agent: Executes mathematical tools to project monthly billing trajectories under multi-tiered, Time-of-Use (</a:t>
            </a:r>
            <a:r>
              <a:rPr lang="en-US" dirty="0" err="1"/>
              <a:t>ToU</a:t>
            </a:r>
            <a:r>
              <a:rPr lang="en-US" dirty="0"/>
              <a:t>) rates.</a:t>
            </a:r>
          </a:p>
          <a:p>
            <a:r>
              <a:rPr lang="en-US" dirty="0"/>
              <a:t> * Advisory &amp; Scheduling Agent: Synthesizes behavioral nudges, identifies shifting opportunities, and calculates return on investment (ROI) for energy-efficient retrofits.</a:t>
            </a:r>
          </a:p>
          <a:p>
            <a:r>
              <a:rPr lang="en-US" dirty="0"/>
              <a:t> * Master Coordinator: Orchestrates inter-agent handoffs, aggregates outputs, and resolves conflicting priorities (e.g., maximizing financial savings vs. maintaining user comfort preferences).</a:t>
            </a:r>
          </a:p>
        </p:txBody>
      </p:sp>
    </p:spTree>
    <p:extLst>
      <p:ext uri="{BB962C8B-B14F-4D97-AF65-F5344CB8AC3E}">
        <p14:creationId xmlns:p14="http://schemas.microsoft.com/office/powerpoint/2010/main" val="4000696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A7C12614-CA42-2096-321B-85ECFCCA2848}"/>
              </a:ext>
            </a:extLst>
          </p:cNvPr>
          <p:cNvPicPr>
            <a:picLocks noChangeAspect="1"/>
          </p:cNvPicPr>
          <p:nvPr/>
        </p:nvPicPr>
        <p:blipFill>
          <a:blip r:embed="rId3"/>
          <a:stretch>
            <a:fillRect/>
          </a:stretch>
        </p:blipFill>
        <p:spPr>
          <a:xfrm>
            <a:off x="623589" y="604379"/>
            <a:ext cx="10679412" cy="614066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538141" y="887030"/>
            <a:ext cx="11301984" cy="4524315"/>
          </a:xfrm>
          <a:prstGeom prst="rect">
            <a:avLst/>
          </a:prstGeom>
          <a:noFill/>
        </p:spPr>
        <p:txBody>
          <a:bodyPr wrap="square" rtlCol="0">
            <a:spAutoFit/>
          </a:bodyPr>
          <a:lstStyle/>
          <a:p>
            <a:r>
              <a:rPr lang="en-US" sz="1800" dirty="0"/>
              <a:t>Novelty (Technical Highlights)</a:t>
            </a:r>
          </a:p>
          <a:p>
            <a:r>
              <a:rPr lang="en-US" sz="1800" dirty="0"/>
              <a:t> * Autonomous Closed-Loop Pipeline: Continuously monitors live smart meter telemetry and acts before peak rates hit, rather than waiting for manual user prompts.</a:t>
            </a:r>
          </a:p>
          <a:p>
            <a:r>
              <a:rPr lang="en-US" sz="1800" dirty="0"/>
              <a:t> * Hybrid Math &amp; AI Engine: Uses deterministic Python scripts inside IBM </a:t>
            </a:r>
            <a:r>
              <a:rPr lang="en-US" sz="1800" dirty="0" err="1"/>
              <a:t>Langflow</a:t>
            </a:r>
            <a:r>
              <a:rPr lang="en-US" sz="1800" dirty="0"/>
              <a:t> for exact multi-slab tariff math, while IBM Granite handles context-aware reasoning and behavioral advice.</a:t>
            </a:r>
          </a:p>
          <a:p>
            <a:r>
              <a:rPr lang="en-US" sz="1800" dirty="0"/>
              <a:t> * Virtual Sub-Metering (NILM): Separates composite home power into individual appliance signatures (HVAC, EV, geyser) without needing smart plugs on every single outlet.</a:t>
            </a:r>
          </a:p>
          <a:p>
            <a:r>
              <a:rPr lang="en-US" sz="1800" dirty="0"/>
              <a:t>Uniqueness (Key Differentiators)</a:t>
            </a:r>
          </a:p>
          <a:p>
            <a:r>
              <a:rPr lang="en-US" sz="1800" dirty="0"/>
              <a:t> * Prescriptive, Dollar-Quantified Actions: Gives exact savings per action (e.g., "Shift laundry to 11 PM to save ₹400/month") instead of vague energy-saving tips.</a:t>
            </a:r>
          </a:p>
          <a:p>
            <a:r>
              <a:rPr lang="en-US" sz="1800" dirty="0"/>
              <a:t> * Active Time-of-Use (</a:t>
            </a:r>
            <a:r>
              <a:rPr lang="en-US" sz="1800" dirty="0" err="1"/>
              <a:t>ToU</a:t>
            </a:r>
            <a:r>
              <a:rPr lang="en-US" sz="1800" dirty="0"/>
              <a:t>) Shifting: Automatically reschedules deferrable heavy appliances out of expensive peak-rate windows.</a:t>
            </a:r>
          </a:p>
          <a:p>
            <a:r>
              <a:rPr lang="en-US" sz="1800" dirty="0"/>
              <a:t> * RAG-Powered Retrofit Audits: Calculates realistic payback periods for upgrading to 5-star/inverter appliances based on real household usage logs.</a:t>
            </a:r>
          </a:p>
          <a:p>
            <a:r>
              <a:rPr lang="en-US" sz="1800" dirty="0"/>
              <a:t> * Vampire Load Detection: Isolates hidden standby power leaks and triggers smart-plug shutdowns for idle electronics.</a:t>
            </a:r>
          </a:p>
        </p:txBody>
      </p:sp>
    </p:spTree>
    <p:extLst>
      <p:ext uri="{BB962C8B-B14F-4D97-AF65-F5344CB8AC3E}">
        <p14:creationId xmlns:p14="http://schemas.microsoft.com/office/powerpoint/2010/main" val="2325282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https://github.com/Tanu-1103/ibm-project.git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124746"/>
            <a:ext cx="8469037" cy="3627583"/>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600" dirty="0">
                <a:latin typeface="+mj-lt"/>
                <a:ea typeface="Times New Roman"/>
                <a:cs typeface="Times New Roman"/>
                <a:sym typeface="Times New Roman"/>
              </a:rPr>
              <a:t>1. Vehicle-to-Home (V2H) and Bidirectional EV Integration</a:t>
            </a:r>
          </a:p>
          <a:p>
            <a:pPr lvl="0">
              <a:lnSpc>
                <a:spcPct val="162162"/>
              </a:lnSpc>
              <a:buClr>
                <a:srgbClr val="2B3541"/>
              </a:buClr>
              <a:buSzPts val="1850"/>
            </a:pPr>
            <a:r>
              <a:rPr lang="en-US" sz="1600" dirty="0">
                <a:latin typeface="+mj-lt"/>
                <a:ea typeface="Times New Roman"/>
                <a:cs typeface="Times New Roman"/>
                <a:sym typeface="Times New Roman"/>
              </a:rPr>
              <a:t>Expanding the agent from static household loads into mobile storage assets. During peak tariff hours, the agent can orchestrate bidirectional electric vehicle (EV) charging—discharging EV battery capacity back into the home to power heavy loads (peak-shaving) and recharging during super-off-peak or negative-pricing night hours.</a:t>
            </a:r>
          </a:p>
          <a:p>
            <a:pPr lvl="0">
              <a:lnSpc>
                <a:spcPct val="162162"/>
              </a:lnSpc>
              <a:buClr>
                <a:srgbClr val="2B3541"/>
              </a:buClr>
              <a:buSzPts val="1850"/>
            </a:pPr>
            <a:r>
              <a:rPr lang="en-US" sz="1600" dirty="0">
                <a:latin typeface="+mj-lt"/>
                <a:ea typeface="Times New Roman"/>
                <a:cs typeface="Times New Roman"/>
                <a:sym typeface="Times New Roman"/>
              </a:rPr>
              <a:t>2. Distributed Energy Resources (DER) &amp; Prosumer Microgrid Trading</a:t>
            </a:r>
          </a:p>
          <a:p>
            <a:pPr lvl="0">
              <a:lnSpc>
                <a:spcPct val="162162"/>
              </a:lnSpc>
              <a:buClr>
                <a:srgbClr val="2B3541"/>
              </a:buClr>
              <a:buSzPts val="1850"/>
            </a:pPr>
            <a:r>
              <a:rPr lang="en-US" sz="1600" dirty="0">
                <a:latin typeface="+mj-lt"/>
                <a:ea typeface="Times New Roman"/>
                <a:cs typeface="Times New Roman"/>
                <a:sym typeface="Times New Roman"/>
              </a:rPr>
              <a:t>Integrating rooftop solar generation, residential battery energy storage systems (BESS), and smart inverters. The agent can evolve into an automated energy trader that decides in real time whether to self-consume generated solar power, store it in batteries, or sell excess generation back to the grid via peer-to-peer (P2P) blockchain or local transactive energy markets.</a:t>
            </a:r>
          </a:p>
          <a:p>
            <a:pPr lvl="0">
              <a:lnSpc>
                <a:spcPct val="162162"/>
              </a:lnSpc>
              <a:buClr>
                <a:srgbClr val="2B3541"/>
              </a:buClr>
              <a:buSzPts val="1850"/>
            </a:pPr>
            <a:r>
              <a:rPr lang="en-US" sz="1600" dirty="0">
                <a:latin typeface="+mj-lt"/>
                <a:ea typeface="Times New Roman"/>
                <a:cs typeface="Times New Roman"/>
                <a:sym typeface="Times New Roman"/>
              </a:rPr>
              <a:t>3. Direct Matter &amp; Thread IoT Standard Actuation</a:t>
            </a:r>
          </a:p>
          <a:p>
            <a:pPr lvl="0">
              <a:lnSpc>
                <a:spcPct val="162162"/>
              </a:lnSpc>
              <a:buClr>
                <a:srgbClr val="2B3541"/>
              </a:buClr>
              <a:buSzPts val="1850"/>
            </a:pPr>
            <a:r>
              <a:rPr lang="en-US" sz="1600" dirty="0">
                <a:latin typeface="+mj-lt"/>
                <a:ea typeface="Times New Roman"/>
                <a:cs typeface="Times New Roman"/>
                <a:sym typeface="Times New Roman"/>
              </a:rPr>
              <a:t>Moving from passive recommendations to direct hardware actuation using modern interoperability protocols like Matter and Thread. </a:t>
            </a:r>
            <a:endParaRPr sz="1600" i="0" u="none" strike="noStrike" cap="none" dirty="0">
              <a:solidFill>
                <a:srgbClr val="000000"/>
              </a:solidFill>
              <a:latin typeface="+mj-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4" name="Picture 3">
            <a:extLst>
              <a:ext uri="{FF2B5EF4-FFF2-40B4-BE49-F238E27FC236}">
                <a16:creationId xmlns:a16="http://schemas.microsoft.com/office/drawing/2014/main" id="{76E2A6E4-1D94-542B-1A55-B68AF477B591}"/>
              </a:ext>
            </a:extLst>
          </p:cNvPr>
          <p:cNvPicPr>
            <a:picLocks noChangeAspect="1"/>
          </p:cNvPicPr>
          <p:nvPr/>
        </p:nvPicPr>
        <p:blipFill>
          <a:blip r:embed="rId2"/>
          <a:stretch>
            <a:fillRect/>
          </a:stretch>
        </p:blipFill>
        <p:spPr>
          <a:xfrm>
            <a:off x="1338927" y="673606"/>
            <a:ext cx="9867538" cy="6023527"/>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1532</Words>
  <Application>Microsoft Office PowerPoint</Application>
  <PresentationFormat>Widescreen</PresentationFormat>
  <Paragraphs>88</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Tanu Mishra</cp:lastModifiedBy>
  <cp:revision>7</cp:revision>
  <dcterms:created xsi:type="dcterms:W3CDTF">2025-07-08T05:06:56Z</dcterms:created>
  <dcterms:modified xsi:type="dcterms:W3CDTF">2026-09-10T10:07:47Z</dcterms:modified>
</cp:coreProperties>
</file>